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3" r:id="rId6"/>
    <p:sldMasterId id="2147483656" r:id="rId7"/>
    <p:sldMasterId id="2147483662" r:id="rId8"/>
    <p:sldMasterId id="214748366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hsLp1oGtgWmz9PuVvmrr8LbYTy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24F527-37FA-4A3B-85BF-1F6FAD5BE306}">
  <a:tblStyle styleId="{9A24F527-37FA-4A3B-85BF-1F6FAD5BE30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D9E69E7-9B9D-4E72-B8BF-59B28ED32D7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customschemas.google.com/relationships/presentationmetadata" Target="metadata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vi-V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1cd004efa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1cd004efa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31cd004efa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20b588d4a_3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320b588d4a_3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1cd004efa_0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31cd004efa_0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31cd004efa_0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1cd004efa_0_3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31cd004efa_0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20b588d4a_3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320b588d4a_3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320b588d4a_3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20b588d4a_3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320b588d4a_3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320b588d4a_3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1cd004efa_0_3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31cd004efa_0_3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31cd004efa_0_3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20b588d4a_3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320b588d4a_3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20b588d4a_3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320b588d4a_3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320b588d4a_3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20b588d4a_3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320b588d4a_3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20b588d4a_3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320b588d4a_3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320b588d4a_3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22965915c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322965915c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20b588d4a_3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320b588d4a_3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320b588d4a_3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jpg"/><Relationship Id="rId3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g"/><Relationship Id="rId3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jp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jp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type="title"/>
          </p:nvPr>
        </p:nvSpPr>
        <p:spPr>
          <a:xfrm>
            <a:off x="439800" y="1464775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8" name="Google Shape;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/>
          <p:nvPr>
            <p:ph idx="2" type="title"/>
          </p:nvPr>
        </p:nvSpPr>
        <p:spPr>
          <a:xfrm>
            <a:off x="510350" y="2217200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3" type="title"/>
          </p:nvPr>
        </p:nvSpPr>
        <p:spPr>
          <a:xfrm>
            <a:off x="510350" y="3072550"/>
            <a:ext cx="4278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0"/>
          <p:cNvSpPr txBox="1"/>
          <p:nvPr/>
        </p:nvSpPr>
        <p:spPr>
          <a:xfrm>
            <a:off x="43744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4">
  <p:cSld name="Cover 4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28" name="Google Shape;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Cover 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5"/>
          <p:cNvSpPr txBox="1"/>
          <p:nvPr>
            <p:ph idx="10" type="dt"/>
          </p:nvPr>
        </p:nvSpPr>
        <p:spPr>
          <a:xfrm>
            <a:off x="834815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581900" y="6300800"/>
            <a:ext cx="463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52" name="Google Shape;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2" y="254524"/>
            <a:ext cx="1527150" cy="98038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/>
        </p:nvSpPr>
        <p:spPr>
          <a:xfrm>
            <a:off x="11400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5"/>
          <p:cNvSpPr txBox="1"/>
          <p:nvPr/>
        </p:nvSpPr>
        <p:spPr>
          <a:xfrm>
            <a:off x="4860757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61" name="Google Shape;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8"/>
          <p:cNvSpPr txBox="1"/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28"/>
          <p:cNvSpPr txBox="1"/>
          <p:nvPr>
            <p:ph idx="10" type="dt"/>
          </p:nvPr>
        </p:nvSpPr>
        <p:spPr>
          <a:xfrm>
            <a:off x="7502425" y="48198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8"/>
          <p:cNvSpPr txBox="1"/>
          <p:nvPr>
            <p:ph idx="11" type="ftr"/>
          </p:nvPr>
        </p:nvSpPr>
        <p:spPr>
          <a:xfrm>
            <a:off x="4542000" y="62820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8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72" name="Google Shape;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8"/>
          <p:cNvSpPr txBox="1"/>
          <p:nvPr/>
        </p:nvSpPr>
        <p:spPr>
          <a:xfrm>
            <a:off x="11400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8"/>
          <p:cNvSpPr txBox="1"/>
          <p:nvPr/>
        </p:nvSpPr>
        <p:spPr>
          <a:xfrm>
            <a:off x="4860757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80" name="Google Shape;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88" name="Google Shape;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96" name="Google Shape;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31"/>
          <p:cNvSpPr txBox="1"/>
          <p:nvPr>
            <p:ph idx="2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05" name="Google Shape;1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5"/>
          <p:cNvSpPr txBox="1"/>
          <p:nvPr>
            <p:ph idx="10" type="dt"/>
          </p:nvPr>
        </p:nvSpPr>
        <p:spPr>
          <a:xfrm>
            <a:off x="768792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1" type="ftr"/>
          </p:nvPr>
        </p:nvSpPr>
        <p:spPr>
          <a:xfrm>
            <a:off x="5647900" y="57456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17" name="Google Shape;1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5"/>
          <p:cNvSpPr txBox="1"/>
          <p:nvPr/>
        </p:nvSpPr>
        <p:spPr>
          <a:xfrm>
            <a:off x="91957" y="65542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5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50AF"/>
              </a:buClr>
              <a:buSzPts val="2400"/>
              <a:buFont typeface="Arial"/>
              <a:buNone/>
              <a:defRPr b="1" sz="2400">
                <a:solidFill>
                  <a:srgbClr val="1750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20" name="Google Shape;120;p35"/>
          <p:cNvSpPr txBox="1"/>
          <p:nvPr/>
        </p:nvSpPr>
        <p:spPr>
          <a:xfrm>
            <a:off x="4573332" y="65542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5" name="Google Shape;12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28" name="Google Shape;12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35" name="Google Shape;13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45" name="Google Shape;1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0" name="Google Shape;150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2" name="Google Shape;152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56" name="Google Shape;1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9"/>
          <p:cNvSpPr txBox="1"/>
          <p:nvPr>
            <p:ph idx="1" type="subTitle"/>
          </p:nvPr>
        </p:nvSpPr>
        <p:spPr>
          <a:xfrm>
            <a:off x="5237725" y="4146725"/>
            <a:ext cx="69543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50AF"/>
              </a:buClr>
              <a:buSzPts val="6000"/>
              <a:buNone/>
              <a:defRPr b="1" sz="6000">
                <a:solidFill>
                  <a:srgbClr val="1750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6" name="Google Shape;16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12" type="sldNum"/>
          </p:nvPr>
        </p:nvSpPr>
        <p:spPr>
          <a:xfrm>
            <a:off x="9386350" y="643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68" name="Google Shape;1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568" y="894254"/>
            <a:ext cx="2371778" cy="152261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9"/>
          <p:cNvSpPr txBox="1"/>
          <p:nvPr/>
        </p:nvSpPr>
        <p:spPr>
          <a:xfrm>
            <a:off x="91957" y="65542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534" y="4326824"/>
            <a:ext cx="307875" cy="30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136" y="4912093"/>
            <a:ext cx="285550" cy="2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560" y="5435303"/>
            <a:ext cx="312686" cy="3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9"/>
          <p:cNvSpPr txBox="1"/>
          <p:nvPr/>
        </p:nvSpPr>
        <p:spPr>
          <a:xfrm>
            <a:off x="1231368" y="4326825"/>
            <a:ext cx="30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vi-V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VTI Building, Me Tri Ha Urban zone, Me Tri Ward, Nam Tu Liem Distr, Hanoi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 txBox="1"/>
          <p:nvPr/>
        </p:nvSpPr>
        <p:spPr>
          <a:xfrm>
            <a:off x="1198343" y="4906339"/>
            <a:ext cx="303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vi-V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(+84) 24-7303-9996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9"/>
          <p:cNvSpPr txBox="1"/>
          <p:nvPr/>
        </p:nvSpPr>
        <p:spPr>
          <a:xfrm>
            <a:off x="1198342" y="5426104"/>
            <a:ext cx="303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vi-V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https://vti.com.vn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9"/>
          <p:cNvSpPr txBox="1"/>
          <p:nvPr/>
        </p:nvSpPr>
        <p:spPr>
          <a:xfrm>
            <a:off x="4860757" y="6554187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45" name="Google Shape;45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/>
          <p:nvPr>
            <p:ph type="title"/>
          </p:nvPr>
        </p:nvSpPr>
        <p:spPr>
          <a:xfrm>
            <a:off x="439800" y="1464775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vi-VN"/>
              <a:t>Post Mortem Report</a:t>
            </a:r>
            <a:endParaRPr b="1"/>
          </a:p>
        </p:txBody>
      </p:sp>
      <p:sp>
        <p:nvSpPr>
          <p:cNvPr id="182" name="Google Shape;182;p2"/>
          <p:cNvSpPr txBox="1"/>
          <p:nvPr>
            <p:ph idx="2" type="title"/>
          </p:nvPr>
        </p:nvSpPr>
        <p:spPr>
          <a:xfrm>
            <a:off x="510350" y="2217200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vi-VN"/>
              <a:t>&lt;Project name&gt;</a:t>
            </a:r>
            <a:endParaRPr/>
          </a:p>
        </p:txBody>
      </p:sp>
      <p:sp>
        <p:nvSpPr>
          <p:cNvPr id="183" name="Google Shape;183;p2"/>
          <p:cNvSpPr txBox="1"/>
          <p:nvPr>
            <p:ph idx="3" type="title"/>
          </p:nvPr>
        </p:nvSpPr>
        <p:spPr>
          <a:xfrm>
            <a:off x="510350" y="2969625"/>
            <a:ext cx="4278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vi-VN"/>
              <a:t>yyyy/mm/dd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581900" y="6282050"/>
            <a:ext cx="4449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625975" y="2300700"/>
            <a:ext cx="4727100" cy="28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b="1" lang="vi-VN" sz="1800">
                <a:solidFill>
                  <a:schemeClr val="lt1"/>
                </a:solidFill>
              </a:rPr>
              <a:t>プロジェクトの概要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b="1" lang="vi-VN" sz="1800">
                <a:solidFill>
                  <a:schemeClr val="lt1"/>
                </a:solidFill>
              </a:rPr>
              <a:t>実際のマイルストーン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b="1" lang="vi-VN" sz="1800">
                <a:solidFill>
                  <a:schemeClr val="lt1"/>
                </a:solidFill>
              </a:rPr>
              <a:t>メトリック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b="1" lang="vi-VN" sz="1800">
                <a:solidFill>
                  <a:schemeClr val="lt1"/>
                </a:solidFill>
              </a:rPr>
              <a:t>問題と解決策 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b="1" lang="vi-VN" sz="1800">
                <a:solidFill>
                  <a:schemeClr val="lt1"/>
                </a:solidFill>
              </a:rPr>
              <a:t>レッスンと練習</a:t>
            </a:r>
            <a:endParaRPr b="1" sz="1800">
              <a:solidFill>
                <a:schemeClr val="lt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b="1" lang="vi-VN" sz="1800">
                <a:solidFill>
                  <a:schemeClr val="lt1"/>
                </a:solidFill>
              </a:rPr>
              <a:t>Q&amp;A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90" name="Google Shape;190;p6"/>
          <p:cNvSpPr txBox="1"/>
          <p:nvPr>
            <p:ph idx="12" type="sldNum"/>
          </p:nvPr>
        </p:nvSpPr>
        <p:spPr>
          <a:xfrm>
            <a:off x="581908" y="6300803"/>
            <a:ext cx="444900" cy="53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625963" y="11136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vi-VN" sz="3000">
                <a:solidFill>
                  <a:schemeClr val="lt1"/>
                </a:solidFill>
              </a:rPr>
              <a:t>内容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/>
        </p:nvSpPr>
        <p:spPr>
          <a:xfrm>
            <a:off x="1140032" y="6446912"/>
            <a:ext cx="247054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>
            <p:ph idx="12" type="sldNum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199" name="Google Shape;199;p8"/>
          <p:cNvSpPr txBox="1"/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vi-VN"/>
              <a:t>I. </a:t>
            </a:r>
            <a:r>
              <a:rPr b="1" lang="vi-VN"/>
              <a:t>プロジェクトの概要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1cd004efa_0_37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06" name="Google Shape;206;g331cd004efa_0_37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I. </a:t>
            </a:r>
            <a:r>
              <a:rPr lang="vi-VN">
                <a:solidFill>
                  <a:srgbClr val="1750AF"/>
                </a:solidFill>
              </a:rPr>
              <a:t>プロジェクトの概要</a:t>
            </a:r>
            <a:endParaRPr>
              <a:solidFill>
                <a:srgbClr val="1750AF"/>
              </a:solidFill>
            </a:endParaRPr>
          </a:p>
        </p:txBody>
      </p:sp>
      <p:sp>
        <p:nvSpPr>
          <p:cNvPr id="207" name="Google Shape;207;g331cd004efa_0_37"/>
          <p:cNvSpPr txBox="1"/>
          <p:nvPr>
            <p:ph idx="4294967295" type="title"/>
          </p:nvPr>
        </p:nvSpPr>
        <p:spPr>
          <a:xfrm>
            <a:off x="384100" y="1299850"/>
            <a:ext cx="10515600" cy="3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プロジェクトの概要</a:t>
            </a: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3B59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範囲: 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REQ, DS, CD, UT, IT, ST, UAT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期間: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 &lt;&gt;ヶ月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請求可能な工数: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 &lt;&gt; MM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開発モデル: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 ウォーターフォール/ インクリメンタル/ アジャイル …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開発環境:</a:t>
            </a:r>
            <a:endParaRPr b="1" sz="1800">
              <a:solidFill>
                <a:srgbClr val="3B59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テスト環境:</a:t>
            </a:r>
            <a:endParaRPr b="1" sz="1800">
              <a:solidFill>
                <a:srgbClr val="3B599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b="1"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その他: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20b588d4a_3_44"/>
          <p:cNvSpPr txBox="1"/>
          <p:nvPr/>
        </p:nvSpPr>
        <p:spPr>
          <a:xfrm>
            <a:off x="11400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vi-VN" sz="1000" u="none" cap="none" strike="noStrik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320b588d4a_3_44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320b588d4a_3_44"/>
          <p:cNvSpPr txBox="1"/>
          <p:nvPr>
            <p:ph idx="12" type="sldNum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15" name="Google Shape;215;g3320b588d4a_3_44"/>
          <p:cNvSpPr txBox="1"/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vi-VN"/>
              <a:t>II. </a:t>
            </a:r>
            <a:r>
              <a:rPr b="1" lang="vi-VN"/>
              <a:t>実際のマイルストーン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g331cd004efa_0_245"/>
          <p:cNvGraphicFramePr/>
          <p:nvPr/>
        </p:nvGraphicFramePr>
        <p:xfrm>
          <a:off x="848175" y="113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{9A24F527-37FA-4A3B-85BF-1F6FAD5BE306}</a:tableStyleId>
              </a:tblPr>
              <a:tblGrid>
                <a:gridCol w="2167925"/>
                <a:gridCol w="2469650"/>
                <a:gridCol w="2469650"/>
                <a:gridCol w="38596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chemeClr val="lt1"/>
                          </a:solidFill>
                        </a:rPr>
                        <a:t>マイルストーン</a:t>
                      </a:r>
                      <a:endParaRPr b="1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chemeClr val="lt1"/>
                          </a:solidFill>
                        </a:rPr>
                        <a:t>予定リリース日</a:t>
                      </a:r>
                      <a:endParaRPr b="1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chemeClr val="lt1"/>
                          </a:solidFill>
                        </a:rPr>
                        <a:t>実際のリリース日</a:t>
                      </a:r>
                      <a:endParaRPr b="1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chemeClr val="lt1"/>
                          </a:solidFill>
                        </a:rPr>
                        <a:t>作業内容</a:t>
                      </a:r>
                      <a:endParaRPr b="1" sz="12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/>
                        <a:t>UAT</a:t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chemeClr val="dk1"/>
                          </a:solidFill>
                        </a:rPr>
                        <a:t>01/01/2025</a:t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chemeClr val="dk1"/>
                          </a:solidFill>
                        </a:rPr>
                        <a:t>mm/dd/yyyy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g331cd004efa_0_245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23" name="Google Shape;223;g331cd004efa_0_245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II. </a:t>
            </a:r>
            <a:r>
              <a:rPr lang="vi-VN">
                <a:solidFill>
                  <a:srgbClr val="3B5998"/>
                </a:solidFill>
              </a:rPr>
              <a:t>実際のマイルストーン</a:t>
            </a:r>
            <a:endParaRPr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1cd004efa_0_379"/>
          <p:cNvSpPr txBox="1"/>
          <p:nvPr>
            <p:ph idx="12" type="sldNum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29" name="Google Shape;229;g331cd004efa_0_379"/>
          <p:cNvSpPr txBox="1"/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vi-VN"/>
              <a:t>III. </a:t>
            </a:r>
            <a:r>
              <a:rPr b="1" lang="vi-VN"/>
              <a:t>メトリック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20b588d4a_3_9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36" name="Google Shape;236;g3320b588d4a_3_9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III. </a:t>
            </a:r>
            <a:r>
              <a:rPr lang="vi-VN">
                <a:solidFill>
                  <a:srgbClr val="3B5998"/>
                </a:solidFill>
              </a:rPr>
              <a:t>メトリック</a:t>
            </a:r>
            <a:endParaRPr>
              <a:solidFill>
                <a:srgbClr val="3B5998"/>
              </a:solidFill>
            </a:endParaRPr>
          </a:p>
        </p:txBody>
      </p:sp>
      <p:graphicFrame>
        <p:nvGraphicFramePr>
          <p:cNvPr id="237" name="Google Shape;237;g3320b588d4a_3_9"/>
          <p:cNvGraphicFramePr/>
          <p:nvPr/>
        </p:nvGraphicFramePr>
        <p:xfrm>
          <a:off x="510425" y="133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2762250"/>
                <a:gridCol w="1514475"/>
                <a:gridCol w="1400175"/>
                <a:gridCol w="1304925"/>
                <a:gridCol w="4448175"/>
              </a:tblGrid>
              <a:tr h="3867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メトリック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単位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値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備考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</a:tr>
              <a:tr h="4778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計画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実績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vMerge="1"/>
              </a:tr>
              <a:tr h="333450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rgbClr val="1E3E73"/>
                          </a:solidFill>
                        </a:rPr>
                        <a:t>品質</a:t>
                      </a:r>
                      <a:endParaRPr b="1" sz="1200">
                        <a:solidFill>
                          <a:srgbClr val="1E3E7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415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CSS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ポイント</a:t>
                      </a:r>
                      <a:endParaRPr sz="1200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Leakage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漏洩／人月</a:t>
                      </a:r>
                      <a:endParaRPr sz="1200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Defect rate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欠陥/人月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rgbClr val="1E3E73"/>
                          </a:solidFill>
                        </a:rPr>
                        <a:t>コスト</a:t>
                      </a:r>
                      <a:endParaRPr b="1" sz="1200">
                        <a:solidFill>
                          <a:srgbClr val="1E3E7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Effort Variation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Effort Efficiency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rgbClr val="1E3E73"/>
                          </a:solidFill>
                        </a:rPr>
                        <a:t>期間</a:t>
                      </a:r>
                      <a:endParaRPr b="1" sz="1200">
                        <a:solidFill>
                          <a:srgbClr val="1E3E7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Timeliness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chemeClr val="dk1"/>
                          </a:solidFill>
                        </a:rPr>
                        <a:t>プロセス</a:t>
                      </a:r>
                      <a:endParaRPr b="1" sz="1200">
                        <a:solidFill>
                          <a:srgbClr val="1E3E7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PCV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g3320b588d4a_3_9"/>
          <p:cNvSpPr txBox="1"/>
          <p:nvPr>
            <p:ph type="title"/>
          </p:nvPr>
        </p:nvSpPr>
        <p:spPr>
          <a:xfrm>
            <a:off x="510425" y="895475"/>
            <a:ext cx="10515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1900">
                <a:solidFill>
                  <a:schemeClr val="dk1"/>
                </a:solidFill>
              </a:rPr>
              <a:t>標準メトリック</a:t>
            </a:r>
            <a:endParaRPr sz="1900"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20b588d4a_3_28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45" name="Google Shape;245;g3320b588d4a_3_28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>
                <a:solidFill>
                  <a:srgbClr val="3B5998"/>
                </a:solidFill>
              </a:rPr>
              <a:t>III. メトリック</a:t>
            </a:r>
            <a:endParaRPr>
              <a:solidFill>
                <a:srgbClr val="3B5998"/>
              </a:solidFill>
            </a:endParaRPr>
          </a:p>
        </p:txBody>
      </p:sp>
      <p:graphicFrame>
        <p:nvGraphicFramePr>
          <p:cNvPr id="246" name="Google Shape;246;g3320b588d4a_3_28"/>
          <p:cNvGraphicFramePr/>
          <p:nvPr/>
        </p:nvGraphicFramePr>
        <p:xfrm>
          <a:off x="510425" y="135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2762250"/>
                <a:gridCol w="1514475"/>
                <a:gridCol w="1400175"/>
                <a:gridCol w="1304925"/>
                <a:gridCol w="4448175"/>
              </a:tblGrid>
              <a:tr h="3867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メトリック</a:t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単位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値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備考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</a:tr>
              <a:tr h="3334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計画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lt1"/>
                          </a:solidFill>
                        </a:rPr>
                        <a:t>実績</a:t>
                      </a:r>
                      <a:endParaRPr b="1" sz="1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 vMerge="1"/>
              </a:tr>
              <a:tr h="333450"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rgbClr val="1E3E73"/>
                          </a:solidFill>
                        </a:rPr>
                        <a:t>バグ率</a:t>
                      </a:r>
                      <a:endParaRPr b="1" sz="1200" u="none" cap="none" strike="noStrike">
                        <a:solidFill>
                          <a:srgbClr val="1E3E7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41525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UT </a:t>
                      </a: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バグ率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バグ／人月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cap="none" strike="noStrike">
                          <a:solidFill>
                            <a:srgbClr val="404040"/>
                          </a:solidFill>
                        </a:rPr>
                        <a:t>IT </a:t>
                      </a: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バグ率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バグ／人月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vi-VN" sz="1200">
                          <a:solidFill>
                            <a:srgbClr val="1E3E73"/>
                          </a:solidFill>
                        </a:rPr>
                        <a:t>生産性</a:t>
                      </a:r>
                      <a:endParaRPr b="1" sz="1200" u="none" cap="none" strike="noStrike">
                        <a:solidFill>
                          <a:srgbClr val="1E3E7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コーディング生産性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KLOC／人月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50"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IT実行生産性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件数／日</a:t>
                      </a:r>
                      <a:endParaRPr sz="1200" u="none" cap="none" strike="noStrike">
                        <a:solidFill>
                          <a:srgbClr val="40404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g3320b588d4a_3_28"/>
          <p:cNvSpPr txBox="1"/>
          <p:nvPr>
            <p:ph type="title"/>
          </p:nvPr>
        </p:nvSpPr>
        <p:spPr>
          <a:xfrm>
            <a:off x="510425" y="895475"/>
            <a:ext cx="10515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1900">
                <a:solidFill>
                  <a:schemeClr val="dk1"/>
                </a:solidFill>
              </a:rPr>
              <a:t>特定のメトリック</a:t>
            </a:r>
            <a:endParaRPr sz="1900"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1cd004efa_0_373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54" name="Google Shape;254;g331cd004efa_0_373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>
                <a:solidFill>
                  <a:srgbClr val="3B5998"/>
                </a:solidFill>
              </a:rPr>
              <a:t>III. メトリック</a:t>
            </a:r>
            <a:endParaRPr/>
          </a:p>
        </p:txBody>
      </p:sp>
      <p:sp>
        <p:nvSpPr>
          <p:cNvPr id="255" name="Google Shape;255;g331cd004efa_0_373"/>
          <p:cNvSpPr txBox="1"/>
          <p:nvPr>
            <p:ph type="title"/>
          </p:nvPr>
        </p:nvSpPr>
        <p:spPr>
          <a:xfrm>
            <a:off x="529275" y="952050"/>
            <a:ext cx="10515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1900">
                <a:solidFill>
                  <a:schemeClr val="dk1"/>
                </a:solidFill>
              </a:rPr>
              <a:t>メトリック分析</a:t>
            </a:r>
            <a:endParaRPr sz="1900">
              <a:solidFill>
                <a:srgbClr val="3B5998"/>
              </a:solidFill>
            </a:endParaRPr>
          </a:p>
        </p:txBody>
      </p:sp>
      <p:sp>
        <p:nvSpPr>
          <p:cNvPr id="256" name="Google Shape;256;g331cd004efa_0_373"/>
          <p:cNvSpPr txBox="1"/>
          <p:nvPr>
            <p:ph type="title"/>
          </p:nvPr>
        </p:nvSpPr>
        <p:spPr>
          <a:xfrm>
            <a:off x="5382800" y="283950"/>
            <a:ext cx="6257700" cy="944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2100">
                <a:solidFill>
                  <a:srgbClr val="3B5998"/>
                </a:solidFill>
              </a:rPr>
              <a:t>プロジェクトの不満足な指標を分析し、基準から10％以上の乖離があるものを特定する</a:t>
            </a:r>
            <a:endParaRPr sz="2100">
              <a:solidFill>
                <a:srgbClr val="3B5998"/>
              </a:solidFill>
            </a:endParaRPr>
          </a:p>
        </p:txBody>
      </p:sp>
      <p:sp>
        <p:nvSpPr>
          <p:cNvPr id="257" name="Google Shape;257;g331cd004efa_0_373"/>
          <p:cNvSpPr txBox="1"/>
          <p:nvPr>
            <p:ph type="title"/>
          </p:nvPr>
        </p:nvSpPr>
        <p:spPr>
          <a:xfrm>
            <a:off x="529275" y="1228050"/>
            <a:ext cx="10515600" cy="16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998"/>
              </a:buClr>
              <a:buSzPts val="1600"/>
              <a:buAutoNum type="arabicPeriod"/>
            </a:pPr>
            <a:r>
              <a:rPr lang="vi-VN" sz="1600">
                <a:solidFill>
                  <a:srgbClr val="3B5998"/>
                </a:solidFill>
              </a:rPr>
              <a:t>CSSが基準を上回る (CSS: 90)</a:t>
            </a:r>
            <a:endParaRPr sz="1600">
              <a:solidFill>
                <a:srgbClr val="3B599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1600">
                <a:solidFill>
                  <a:srgbClr val="3B5998"/>
                </a:solidFill>
              </a:rPr>
              <a:t>原因：</a:t>
            </a:r>
            <a:endParaRPr sz="1600">
              <a:solidFill>
                <a:srgbClr val="3B599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1600">
                <a:solidFill>
                  <a:srgbClr val="3B5998"/>
                </a:solidFill>
              </a:rPr>
              <a:t>…</a:t>
            </a:r>
            <a:endParaRPr sz="1600"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20b588d4a_3_52"/>
          <p:cNvSpPr txBox="1"/>
          <p:nvPr>
            <p:ph idx="12" type="sldNum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63" name="Google Shape;263;g3320b588d4a_3_52"/>
          <p:cNvSpPr txBox="1"/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vi-VN"/>
              <a:t>IV. </a:t>
            </a:r>
            <a:r>
              <a:rPr b="1" lang="vi-VN"/>
              <a:t>問題と解決策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20b588d4a_3_67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70" name="Google Shape;270;g3320b588d4a_3_67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IV.</a:t>
            </a:r>
            <a:r>
              <a:rPr lang="vi-VN">
                <a:solidFill>
                  <a:srgbClr val="1750AF"/>
                </a:solidFill>
              </a:rPr>
              <a:t> </a:t>
            </a:r>
            <a:r>
              <a:rPr lang="vi-VN"/>
              <a:t>問題と解決策</a:t>
            </a:r>
            <a:endParaRPr>
              <a:solidFill>
                <a:srgbClr val="1750AF"/>
              </a:solidFill>
            </a:endParaRPr>
          </a:p>
        </p:txBody>
      </p:sp>
      <p:graphicFrame>
        <p:nvGraphicFramePr>
          <p:cNvPr id="271" name="Google Shape;271;g3320b588d4a_3_67"/>
          <p:cNvGraphicFramePr/>
          <p:nvPr/>
        </p:nvGraphicFramePr>
        <p:xfrm>
          <a:off x="423863" y="17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609600"/>
                <a:gridCol w="3762375"/>
                <a:gridCol w="4191000"/>
                <a:gridCol w="1495425"/>
                <a:gridCol w="1285875"/>
              </a:tblGrid>
              <a:tr h="43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>
                          <a:solidFill>
                            <a:srgbClr val="FFFFFF"/>
                          </a:solidFill>
                        </a:rPr>
                        <a:t>問題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>
                          <a:solidFill>
                            <a:srgbClr val="FFFFFF"/>
                          </a:solidFill>
                        </a:rPr>
                        <a:t>解決策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 u="none" cap="none" strike="noStrike">
                          <a:solidFill>
                            <a:srgbClr val="FFFFFF"/>
                          </a:solidFill>
                        </a:rPr>
                        <a:t>PIC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>
                          <a:solidFill>
                            <a:srgbClr val="FFFFFF"/>
                          </a:solidFill>
                        </a:rPr>
                        <a:t>締め切り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u="none" cap="none" strike="noStrike"/>
                        <a:t>1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u="none" cap="none" strike="noStrike"/>
                        <a:t>2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u="none" cap="none" strike="noStrike"/>
                        <a:t>3</a:t>
                      </a:r>
                      <a:endParaRPr sz="16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20b588d4a_3_61"/>
          <p:cNvSpPr txBox="1"/>
          <p:nvPr>
            <p:ph idx="12" type="sldNum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77" name="Google Shape;277;g3320b588d4a_3_61"/>
          <p:cNvSpPr txBox="1"/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vi-VN"/>
              <a:t>V. </a:t>
            </a:r>
            <a:r>
              <a:rPr b="1" lang="vi-VN"/>
              <a:t>レッスンと練習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20b588d4a_3_82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84" name="Google Shape;284;g3320b588d4a_3_82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V. </a:t>
            </a:r>
            <a:r>
              <a:rPr lang="vi-VN">
                <a:solidFill>
                  <a:srgbClr val="3B5998"/>
                </a:solidFill>
              </a:rPr>
              <a:t>レッスンと練習</a:t>
            </a:r>
            <a:endParaRPr>
              <a:solidFill>
                <a:srgbClr val="3B5998"/>
              </a:solidFill>
            </a:endParaRPr>
          </a:p>
        </p:txBody>
      </p:sp>
      <p:graphicFrame>
        <p:nvGraphicFramePr>
          <p:cNvPr id="285" name="Google Shape;285;g3320b588d4a_3_82"/>
          <p:cNvGraphicFramePr/>
          <p:nvPr/>
        </p:nvGraphicFramePr>
        <p:xfrm>
          <a:off x="423863" y="17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382850"/>
                <a:gridCol w="4255100"/>
                <a:gridCol w="4255100"/>
                <a:gridCol w="1291625"/>
                <a:gridCol w="1291625"/>
              </a:tblGrid>
              <a:tr h="43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>
                          <a:solidFill>
                            <a:srgbClr val="FFFFFF"/>
                          </a:solidFill>
                        </a:rPr>
                        <a:t>状況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>
                          <a:solidFill>
                            <a:srgbClr val="FFFFFF"/>
                          </a:solidFill>
                        </a:rPr>
                        <a:t>練習／レッスン／提案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>
                          <a:solidFill>
                            <a:srgbClr val="FFFFFF"/>
                          </a:solidFill>
                        </a:rPr>
                        <a:t>種類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600">
                          <a:solidFill>
                            <a:srgbClr val="FFFFFF"/>
                          </a:solidFill>
                        </a:rPr>
                        <a:t>カテゴリー</a:t>
                      </a:r>
                      <a:endParaRPr b="1" sz="1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1B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cap="none" strike="noStrike"/>
                        <a:t>1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vi-VN" sz="1500">
                          <a:solidFill>
                            <a:schemeClr val="dk1"/>
                          </a:solidFill>
                        </a:rPr>
                        <a:t>練習／レッスン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cap="none" strike="noStrike"/>
                        <a:t>2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cap="none" strike="noStrike"/>
                        <a:t>3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cap="none" strike="noStrike"/>
                        <a:t>4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22965915c_1_55"/>
          <p:cNvSpPr txBox="1"/>
          <p:nvPr>
            <p:ph idx="12" type="sldNum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91" name="Google Shape;291;g3322965915c_1_55"/>
          <p:cNvSpPr txBox="1"/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vi-VN"/>
              <a:t>VI. Q&amp;A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20b588d4a_3_92"/>
          <p:cNvSpPr txBox="1"/>
          <p:nvPr>
            <p:ph idx="12" type="sldNum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98" name="Google Shape;298;g3320b588d4a_3_92"/>
          <p:cNvSpPr txBox="1"/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Q&amp;A</a:t>
            </a:r>
            <a:endParaRPr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idx="12" type="sldNum"/>
          </p:nvPr>
        </p:nvSpPr>
        <p:spPr>
          <a:xfrm>
            <a:off x="9386350" y="643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304" name="Google Shape;304;p17"/>
          <p:cNvSpPr txBox="1"/>
          <p:nvPr>
            <p:ph idx="1" type="subTitle"/>
          </p:nvPr>
        </p:nvSpPr>
        <p:spPr>
          <a:xfrm>
            <a:off x="5230800" y="4307050"/>
            <a:ext cx="69612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vi-VN" sz="4700"/>
              <a:t>ありがとうございます！</a:t>
            </a:r>
            <a:endParaRPr sz="4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ble of content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fographi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v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rang chuyể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rang The e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2023-01-10T03:58:08Z</dcterms:created>
  <dc:creator>Microsoft Office User</dc:creator>
</cp:coreProperties>
</file>