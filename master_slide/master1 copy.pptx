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3" r:id="rId2"/>
    <p:sldMasterId id="2147483656" r:id="rId3"/>
    <p:sldMasterId id="2147483662" r:id="rId4"/>
    <p:sldMasterId id="2147483668" r:id="rId5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hsLp1oGtgWmz9PuVvmrr8LbYTy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24F527-37FA-4A3B-85BF-1F6FAD5BE306}">
  <a:tblStyle styleId="{9A24F527-37FA-4A3B-85BF-1F6FAD5BE30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D9E69E7-9B9D-4E72-B8BF-59B28ED32D7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 snapToGrid="0">
      <p:cViewPr varScale="1">
        <p:scale>
          <a:sx n="111" d="100"/>
          <a:sy n="111" d="100"/>
        </p:scale>
        <p:origin x="6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customschemas.google.com/relationships/presentationmetadata" Target="meta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1cd004ef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31cd004efa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3" name="Google Shape;203;g331cd004efa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20b588d4a_3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g3320b588d4a_3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1cd004efa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8" name="Google Shape;218;g331cd004efa_0_2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9" name="Google Shape;219;g331cd004efa_0_2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1cd004efa_0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6" name="Google Shape;226;g331cd004efa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20b588d4a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3320b588d4a_3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3" name="Google Shape;233;g3320b588d4a_3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20b588d4a_3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g3320b588d4a_3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2" name="Google Shape;242;g3320b588d4a_3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31cd004efa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331cd004efa_0_3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331cd004efa_0_3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320b588d4a_3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g3320b588d4a_3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20b588d4a_3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320b588d4a_3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3320b588d4a_3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320b588d4a_3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4" name="Google Shape;274;g3320b588d4a_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20b588d4a_3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320b588d4a_3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3320b588d4a_3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322965915c_1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" name="Google Shape;288;g3322965915c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320b588d4a_3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320b588d4a_3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g3320b588d4a_3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vi-V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3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>
            <a:spLocks noGrp="1"/>
          </p:cNvSpPr>
          <p:nvPr>
            <p:ph type="title"/>
          </p:nvPr>
        </p:nvSpPr>
        <p:spPr>
          <a:xfrm>
            <a:off x="439800" y="1464775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0"/>
          <p:cNvSpPr txBox="1">
            <a:spLocks noGrp="1"/>
          </p:cNvSpPr>
          <p:nvPr>
            <p:ph type="title" idx="2"/>
          </p:nvPr>
        </p:nvSpPr>
        <p:spPr>
          <a:xfrm>
            <a:off x="510350" y="2217200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title" idx="3"/>
          </p:nvPr>
        </p:nvSpPr>
        <p:spPr>
          <a:xfrm>
            <a:off x="510350" y="3072550"/>
            <a:ext cx="4278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20"/>
          <p:cNvSpPr txBox="1"/>
          <p:nvPr/>
        </p:nvSpPr>
        <p:spPr>
          <a:xfrm>
            <a:off x="43744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4">
  <p:cSld name="Cover 4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28" name="Google Shape;2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1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"/>
            <a:ext cx="1219200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5"/>
          <p:cNvSpPr txBox="1">
            <a:spLocks noGrp="1"/>
          </p:cNvSpPr>
          <p:nvPr>
            <p:ph type="dt" idx="10"/>
          </p:nvPr>
        </p:nvSpPr>
        <p:spPr>
          <a:xfrm>
            <a:off x="834815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581900" y="6300800"/>
            <a:ext cx="463200" cy="5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52" name="Google Shape;5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5"/>
          <p:cNvSpPr txBox="1"/>
          <p:nvPr/>
        </p:nvSpPr>
        <p:spPr>
          <a:xfrm>
            <a:off x="4860757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61" name="Google Shape;6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8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dt" idx="10"/>
          </p:nvPr>
        </p:nvSpPr>
        <p:spPr>
          <a:xfrm>
            <a:off x="7502425" y="48198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ftr" idx="11"/>
          </p:nvPr>
        </p:nvSpPr>
        <p:spPr>
          <a:xfrm>
            <a:off x="4542000" y="62820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8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8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72" name="Google Shape;7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8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8"/>
          <p:cNvSpPr txBox="1"/>
          <p:nvPr/>
        </p:nvSpPr>
        <p:spPr>
          <a:xfrm>
            <a:off x="4860757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80" name="Google Shape;8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88" name="Google Shape;8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96" name="Google Shape;9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body" idx="2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05" name="Google Shape;10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5"/>
          <p:cNvSpPr txBox="1">
            <a:spLocks noGrp="1"/>
          </p:cNvSpPr>
          <p:nvPr>
            <p:ph type="dt" idx="10"/>
          </p:nvPr>
        </p:nvSpPr>
        <p:spPr>
          <a:xfrm>
            <a:off x="7687925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5"/>
          <p:cNvSpPr txBox="1">
            <a:spLocks noGrp="1"/>
          </p:cNvSpPr>
          <p:nvPr>
            <p:ph type="ftr" idx="11"/>
          </p:nvPr>
        </p:nvSpPr>
        <p:spPr>
          <a:xfrm>
            <a:off x="5647900" y="57456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5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17" name="Google Shape;11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5"/>
          <p:cNvSpPr txBox="1"/>
          <p:nvPr/>
        </p:nvSpPr>
        <p:spPr>
          <a:xfrm>
            <a:off x="91957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5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50AF"/>
              </a:buClr>
              <a:buSzPts val="2400"/>
              <a:buFont typeface="Arial"/>
              <a:buNone/>
              <a:defRPr sz="2400" b="1">
                <a:solidFill>
                  <a:srgbClr val="1750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20" name="Google Shape;120;p35"/>
          <p:cNvSpPr txBox="1"/>
          <p:nvPr/>
        </p:nvSpPr>
        <p:spPr>
          <a:xfrm>
            <a:off x="4573332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5" name="Google Shape;12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28" name="Google Shape;12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2" name="Google Shape;14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45" name="Google Shape;14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2" name="Google Shape;152;p3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56" name="Google Shape;156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39"/>
          <p:cNvSpPr txBox="1">
            <a:spLocks noGrp="1"/>
          </p:cNvSpPr>
          <p:nvPr>
            <p:ph type="subTitle" idx="1"/>
          </p:nvPr>
        </p:nvSpPr>
        <p:spPr>
          <a:xfrm>
            <a:off x="5237725" y="4146725"/>
            <a:ext cx="69543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50AF"/>
              </a:buClr>
              <a:buSzPts val="6000"/>
              <a:buNone/>
              <a:defRPr sz="6000" b="1">
                <a:solidFill>
                  <a:srgbClr val="1750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6" name="Google Shape;16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9"/>
          <p:cNvSpPr txBox="1">
            <a:spLocks noGrp="1"/>
          </p:cNvSpPr>
          <p:nvPr>
            <p:ph type="sldNum" idx="12"/>
          </p:nvPr>
        </p:nvSpPr>
        <p:spPr>
          <a:xfrm>
            <a:off x="9386350" y="643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4568" y="894254"/>
            <a:ext cx="2371778" cy="152261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 txBox="1"/>
          <p:nvPr/>
        </p:nvSpPr>
        <p:spPr>
          <a:xfrm>
            <a:off x="91957" y="65542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534" y="4326824"/>
            <a:ext cx="307875" cy="30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4136" y="4912093"/>
            <a:ext cx="285550" cy="28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560" y="5435303"/>
            <a:ext cx="312686" cy="31828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9"/>
          <p:cNvSpPr txBox="1"/>
          <p:nvPr/>
        </p:nvSpPr>
        <p:spPr>
          <a:xfrm>
            <a:off x="1231368" y="4326825"/>
            <a:ext cx="303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-V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VTI Building, Me Tri Ha Urban zone, Me Tri Ward, Nam Tu Liem Distr, Hanoi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 txBox="1"/>
          <p:nvPr/>
        </p:nvSpPr>
        <p:spPr>
          <a:xfrm>
            <a:off x="1198343" y="4906339"/>
            <a:ext cx="3036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-V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(+84) 24-7303-9996</a:t>
            </a: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9"/>
          <p:cNvSpPr txBox="1"/>
          <p:nvPr/>
        </p:nvSpPr>
        <p:spPr>
          <a:xfrm>
            <a:off x="1198342" y="5426104"/>
            <a:ext cx="30360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vi-V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https://vti.com.vn</a:t>
            </a: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9"/>
          <p:cNvSpPr txBox="1"/>
          <p:nvPr/>
        </p:nvSpPr>
        <p:spPr>
          <a:xfrm>
            <a:off x="4860757" y="6554187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Internal Use Only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9792" y="254524"/>
            <a:ext cx="1527150" cy="980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  <p:pic>
        <p:nvPicPr>
          <p:cNvPr id="45" name="Google Shape;4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0258" y="228600"/>
            <a:ext cx="1257944" cy="80756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0" name="Google Shape;16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1" name="Google Shape;16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>
            <a:spLocks noGrp="1"/>
          </p:cNvSpPr>
          <p:nvPr>
            <p:ph type="title"/>
          </p:nvPr>
        </p:nvSpPr>
        <p:spPr>
          <a:xfrm>
            <a:off x="439800" y="1464775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vi-VN" b="1"/>
              <a:t>Post Mortem Report</a:t>
            </a:r>
            <a:endParaRPr b="1"/>
          </a:p>
        </p:txBody>
      </p:sp>
      <p:sp>
        <p:nvSpPr>
          <p:cNvPr id="182" name="Google Shape;182;p2"/>
          <p:cNvSpPr txBox="1">
            <a:spLocks noGrp="1"/>
          </p:cNvSpPr>
          <p:nvPr>
            <p:ph type="title" idx="2"/>
          </p:nvPr>
        </p:nvSpPr>
        <p:spPr>
          <a:xfrm>
            <a:off x="510350" y="2217200"/>
            <a:ext cx="1091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vi-VN" b="1"/>
              <a:t>&lt;Project name&gt;</a:t>
            </a:r>
            <a:endParaRPr/>
          </a:p>
        </p:txBody>
      </p:sp>
      <p:sp>
        <p:nvSpPr>
          <p:cNvPr id="183" name="Google Shape;183;p2"/>
          <p:cNvSpPr txBox="1">
            <a:spLocks noGrp="1"/>
          </p:cNvSpPr>
          <p:nvPr>
            <p:ph type="title" idx="3"/>
          </p:nvPr>
        </p:nvSpPr>
        <p:spPr>
          <a:xfrm>
            <a:off x="510350" y="2969625"/>
            <a:ext cx="4278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vi-VN"/>
              <a:t>yyyy/mm/dd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581900" y="6282050"/>
            <a:ext cx="4449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625975" y="2300700"/>
            <a:ext cx="47271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プロジェクトの概要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実際のマイルストーン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メトリック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問題と解決策 </a:t>
            </a:r>
            <a:endParaRPr sz="1800" b="1">
              <a:solidFill>
                <a:schemeClr val="l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レッスンと練習</a:t>
            </a:r>
            <a:endParaRPr sz="1800" b="1">
              <a:solidFill>
                <a:schemeClr val="lt1"/>
              </a:solidFill>
            </a:endParaRPr>
          </a:p>
          <a:p>
            <a:pPr marL="4572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romanUcPeriod"/>
            </a:pPr>
            <a:r>
              <a:rPr lang="vi-VN" sz="1800" b="1">
                <a:solidFill>
                  <a:schemeClr val="lt1"/>
                </a:solidFill>
              </a:rPr>
              <a:t>Q&amp;A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90" name="Google Shape;190;p6"/>
          <p:cNvSpPr txBox="1">
            <a:spLocks noGrp="1"/>
          </p:cNvSpPr>
          <p:nvPr>
            <p:ph type="sldNum" idx="12"/>
          </p:nvPr>
        </p:nvSpPr>
        <p:spPr>
          <a:xfrm>
            <a:off x="581908" y="6300803"/>
            <a:ext cx="444900" cy="538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2</a:t>
            </a:fld>
            <a:endParaRPr/>
          </a:p>
        </p:txBody>
      </p:sp>
      <p:sp>
        <p:nvSpPr>
          <p:cNvPr id="191" name="Google Shape;191;p6"/>
          <p:cNvSpPr txBox="1"/>
          <p:nvPr/>
        </p:nvSpPr>
        <p:spPr>
          <a:xfrm>
            <a:off x="625963" y="11136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vi-VN" sz="3000" b="1">
                <a:solidFill>
                  <a:schemeClr val="lt1"/>
                </a:solidFill>
              </a:rPr>
              <a:t>内容</a:t>
            </a:r>
            <a:endParaRPr sz="24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/>
          <p:nvPr/>
        </p:nvSpPr>
        <p:spPr>
          <a:xfrm>
            <a:off x="1140032" y="6446912"/>
            <a:ext cx="24705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3</a:t>
            </a:fld>
            <a:endParaRPr/>
          </a:p>
        </p:txBody>
      </p:sp>
      <p:sp>
        <p:nvSpPr>
          <p:cNvPr id="199" name="Google Shape;199;p8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I. プロジェクトの概要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1cd004efa_0_37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4</a:t>
            </a:fld>
            <a:endParaRPr/>
          </a:p>
        </p:txBody>
      </p:sp>
      <p:sp>
        <p:nvSpPr>
          <p:cNvPr id="206" name="Google Shape;206;g331cd004efa_0_37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I. </a:t>
            </a:r>
            <a:r>
              <a:rPr lang="vi-VN">
                <a:solidFill>
                  <a:srgbClr val="1750AF"/>
                </a:solidFill>
              </a:rPr>
              <a:t>プロジェクトの概要</a:t>
            </a:r>
            <a:endParaRPr>
              <a:solidFill>
                <a:srgbClr val="1750AF"/>
              </a:solidFill>
            </a:endParaRPr>
          </a:p>
        </p:txBody>
      </p:sp>
      <p:sp>
        <p:nvSpPr>
          <p:cNvPr id="207" name="Google Shape;207;g331cd004efa_0_37"/>
          <p:cNvSpPr txBox="1">
            <a:spLocks noGrp="1"/>
          </p:cNvSpPr>
          <p:nvPr>
            <p:ph type="title" idx="4294967295"/>
          </p:nvPr>
        </p:nvSpPr>
        <p:spPr>
          <a:xfrm>
            <a:off x="384100" y="1299850"/>
            <a:ext cx="10515600" cy="3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プロジェクトの概要:</a:t>
            </a:r>
            <a:r>
              <a:rPr lang="vi-VN" sz="1800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範囲: 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REQ, DS, CD, UT, IT, ST, UAT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期間: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&lt;&gt;ヶ月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請求可能な工数: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&lt;&gt; MM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開発モデル:</a:t>
            </a:r>
            <a:r>
              <a:rPr lang="vi-VN" sz="1800">
                <a:latin typeface="Arial"/>
                <a:ea typeface="Arial"/>
                <a:cs typeface="Arial"/>
                <a:sym typeface="Arial"/>
              </a:rPr>
              <a:t> ウォーターフォール/ インクリメンタル/ アジャイル …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開発環境:</a:t>
            </a:r>
            <a:endParaRPr sz="1800" b="1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テスト環境:</a:t>
            </a:r>
            <a:endParaRPr sz="1800" b="1">
              <a:solidFill>
                <a:srgbClr val="3B599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rgbClr val="3B5998"/>
              </a:buClr>
              <a:buSzPts val="1800"/>
              <a:buFont typeface="Arial"/>
              <a:buChar char="●"/>
            </a:pPr>
            <a:r>
              <a:rPr lang="vi-VN" sz="1800" b="1">
                <a:solidFill>
                  <a:srgbClr val="3B5998"/>
                </a:solidFill>
                <a:latin typeface="Arial"/>
                <a:ea typeface="Arial"/>
                <a:cs typeface="Arial"/>
                <a:sym typeface="Arial"/>
              </a:rPr>
              <a:t>その他: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20b588d4a_3_44"/>
          <p:cNvSpPr txBox="1"/>
          <p:nvPr/>
        </p:nvSpPr>
        <p:spPr>
          <a:xfrm>
            <a:off x="1140032" y="6446912"/>
            <a:ext cx="247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vi-VN" sz="1000" b="0" i="0" u="none" strike="noStrike" cap="none">
                <a:solidFill>
                  <a:srgbClr val="AEABAB"/>
                </a:solidFill>
                <a:latin typeface="Arial"/>
                <a:ea typeface="Arial"/>
                <a:cs typeface="Arial"/>
                <a:sym typeface="Arial"/>
              </a:rPr>
              <a:t>Copyright © 2025 VTI All rights reserved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320b588d4a_3_44"/>
          <p:cNvSpPr/>
          <p:nvPr/>
        </p:nvSpPr>
        <p:spPr>
          <a:xfrm>
            <a:off x="581891" y="6282047"/>
            <a:ext cx="463200" cy="576000"/>
          </a:xfrm>
          <a:prstGeom prst="rect">
            <a:avLst/>
          </a:prstGeom>
          <a:solidFill>
            <a:srgbClr val="2A92E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320b588d4a_3_44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5</a:t>
            </a:fld>
            <a:endParaRPr/>
          </a:p>
        </p:txBody>
      </p:sp>
      <p:sp>
        <p:nvSpPr>
          <p:cNvPr id="215" name="Google Shape;215;g3320b588d4a_3_44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II. 実際のマイルストーン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g331cd004efa_0_245"/>
          <p:cNvGraphicFramePr/>
          <p:nvPr/>
        </p:nvGraphicFramePr>
        <p:xfrm>
          <a:off x="848175" y="113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{9A24F527-37FA-4A3B-85BF-1F6FAD5BE306}</a:tableStyleId>
              </a:tblPr>
              <a:tblGrid>
                <a:gridCol w="216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9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chemeClr val="lt1"/>
                          </a:solidFill>
                        </a:rPr>
                        <a:t>マイルストーン</a:t>
                      </a:r>
                      <a:endParaRPr sz="12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chemeClr val="lt1"/>
                          </a:solidFill>
                        </a:rPr>
                        <a:t>予定リリース日</a:t>
                      </a:r>
                      <a:endParaRPr sz="12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chemeClr val="lt1"/>
                          </a:solidFill>
                        </a:rPr>
                        <a:t>実際のリリース日</a:t>
                      </a:r>
                      <a:endParaRPr sz="12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chemeClr val="lt1"/>
                          </a:solidFill>
                        </a:rPr>
                        <a:t>作業内容</a:t>
                      </a:r>
                      <a:endParaRPr sz="12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/>
                        <a:t>UAT</a:t>
                      </a: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chemeClr val="dk1"/>
                          </a:solidFill>
                        </a:rPr>
                        <a:t>01/01/2025</a:t>
                      </a: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chemeClr val="dk1"/>
                          </a:solidFill>
                        </a:rPr>
                        <a:t>mm/dd/yyyy</a:t>
                      </a: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2" name="Google Shape;222;g331cd004efa_0_245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6</a:t>
            </a:fld>
            <a:endParaRPr/>
          </a:p>
        </p:txBody>
      </p:sp>
      <p:sp>
        <p:nvSpPr>
          <p:cNvPr id="223" name="Google Shape;223;g331cd004efa_0_245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II. 実際のマイルストーン</a:t>
            </a:r>
            <a:endParaRPr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31cd004efa_0_379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7</a:t>
            </a:fld>
            <a:endParaRPr/>
          </a:p>
        </p:txBody>
      </p:sp>
      <p:sp>
        <p:nvSpPr>
          <p:cNvPr id="229" name="Google Shape;229;g331cd004efa_0_379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III. メトリック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20b588d4a_3_9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8</a:t>
            </a:fld>
            <a:endParaRPr/>
          </a:p>
        </p:txBody>
      </p:sp>
      <p:sp>
        <p:nvSpPr>
          <p:cNvPr id="236" name="Google Shape;236;g3320b588d4a_3_9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III. メトリック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37" name="Google Shape;237;g3320b588d4a_3_9"/>
          <p:cNvGraphicFramePr/>
          <p:nvPr/>
        </p:nvGraphicFramePr>
        <p:xfrm>
          <a:off x="510425" y="133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メトリック</a:t>
                      </a:r>
                      <a:endParaRPr sz="15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単位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値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備考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50"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計画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実績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rgbClr val="1E3E73"/>
                          </a:solidFill>
                        </a:rPr>
                        <a:t>品質</a:t>
                      </a:r>
                      <a:endParaRPr sz="1200" b="1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CSS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ポイント</a:t>
                      </a:r>
                      <a:endParaRPr sz="1200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Leakage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漏洩／人月</a:t>
                      </a:r>
                      <a:endParaRPr sz="1200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Defect rate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欠陥/人月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rgbClr val="1E3E73"/>
                          </a:solidFill>
                        </a:rPr>
                        <a:t>コスト</a:t>
                      </a:r>
                      <a:endParaRPr sz="1200" b="1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Effort Variation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Effort Efficiency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rgbClr val="1E3E73"/>
                          </a:solidFill>
                        </a:rPr>
                        <a:t>期間</a:t>
                      </a:r>
                      <a:endParaRPr sz="1200" b="1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Timeliness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chemeClr val="dk1"/>
                          </a:solidFill>
                        </a:rPr>
                        <a:t>プロセス</a:t>
                      </a:r>
                      <a:endParaRPr sz="1200" b="1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PCV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%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38" name="Google Shape;238;g3320b588d4a_3_9"/>
          <p:cNvSpPr txBox="1">
            <a:spLocks noGrp="1"/>
          </p:cNvSpPr>
          <p:nvPr>
            <p:ph type="title"/>
          </p:nvPr>
        </p:nvSpPr>
        <p:spPr>
          <a:xfrm>
            <a:off x="510425" y="895475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標準メトリック</a:t>
            </a:r>
            <a:endParaRPr sz="19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320b588d4a_3_28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9</a:t>
            </a:fld>
            <a:endParaRPr/>
          </a:p>
        </p:txBody>
      </p:sp>
      <p:sp>
        <p:nvSpPr>
          <p:cNvPr id="245" name="Google Shape;245;g3320b588d4a_3_28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>
                <a:solidFill>
                  <a:srgbClr val="3B5998"/>
                </a:solidFill>
              </a:rPr>
              <a:t>III. メトリック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46" name="Google Shape;246;g3320b588d4a_3_28"/>
          <p:cNvGraphicFramePr/>
          <p:nvPr/>
        </p:nvGraphicFramePr>
        <p:xfrm>
          <a:off x="510425" y="135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6775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メトリック</a:t>
                      </a:r>
                      <a:endParaRPr sz="15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単位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値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備考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50"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計画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lt1"/>
                          </a:solidFill>
                        </a:rPr>
                        <a:t>実績</a:t>
                      </a:r>
                      <a:endParaRPr sz="15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rgbClr val="1E3E73"/>
                          </a:solidFill>
                        </a:rPr>
                        <a:t>バグ率</a:t>
                      </a:r>
                      <a:endParaRPr sz="1200" b="1" u="none" strike="noStrike" cap="none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UT </a:t>
                      </a: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バグ率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バグ／人月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u="none" strike="noStrike" cap="none">
                          <a:solidFill>
                            <a:srgbClr val="404040"/>
                          </a:solidFill>
                        </a:rPr>
                        <a:t>IT </a:t>
                      </a: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バグ率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バグ／人月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45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 b="1">
                          <a:solidFill>
                            <a:srgbClr val="1E3E73"/>
                          </a:solidFill>
                        </a:rPr>
                        <a:t>生産性</a:t>
                      </a:r>
                      <a:endParaRPr sz="1200" b="1" u="none" strike="noStrike" cap="none">
                        <a:solidFill>
                          <a:srgbClr val="1E3E73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JP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コーディング生産性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KLOC／人月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450">
                <a:tc>
                  <a:txBody>
                    <a:bodyPr/>
                    <a:lstStyle/>
                    <a:p>
                      <a:pPr marL="45720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IT実行生産性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vi-VN" sz="1200">
                          <a:solidFill>
                            <a:srgbClr val="404040"/>
                          </a:solidFill>
                        </a:rPr>
                        <a:t>件数／日</a:t>
                      </a:r>
                      <a:endParaRPr sz="1200" u="none" strike="noStrike" cap="none">
                        <a:solidFill>
                          <a:srgbClr val="40404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47" name="Google Shape;247;g3320b588d4a_3_28"/>
          <p:cNvSpPr txBox="1">
            <a:spLocks noGrp="1"/>
          </p:cNvSpPr>
          <p:nvPr>
            <p:ph type="title"/>
          </p:nvPr>
        </p:nvSpPr>
        <p:spPr>
          <a:xfrm>
            <a:off x="510425" y="895475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特定のメトリック</a:t>
            </a:r>
            <a:endParaRPr sz="19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31cd004efa_0_373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10</a:t>
            </a:fld>
            <a:endParaRPr/>
          </a:p>
        </p:txBody>
      </p:sp>
      <p:sp>
        <p:nvSpPr>
          <p:cNvPr id="254" name="Google Shape;254;g331cd004efa_0_373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vi-VN">
                <a:solidFill>
                  <a:srgbClr val="3B5998"/>
                </a:solidFill>
              </a:rPr>
              <a:t>III. メトリック</a:t>
            </a:r>
            <a:endParaRPr/>
          </a:p>
        </p:txBody>
      </p:sp>
      <p:sp>
        <p:nvSpPr>
          <p:cNvPr id="255" name="Google Shape;255;g331cd004efa_0_373"/>
          <p:cNvSpPr txBox="1">
            <a:spLocks noGrp="1"/>
          </p:cNvSpPr>
          <p:nvPr>
            <p:ph type="title"/>
          </p:nvPr>
        </p:nvSpPr>
        <p:spPr>
          <a:xfrm>
            <a:off x="529275" y="952050"/>
            <a:ext cx="10515600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1900">
                <a:solidFill>
                  <a:schemeClr val="dk1"/>
                </a:solidFill>
              </a:rPr>
              <a:t>メトリック分析</a:t>
            </a:r>
            <a:endParaRPr sz="1900">
              <a:solidFill>
                <a:srgbClr val="3B5998"/>
              </a:solidFill>
            </a:endParaRPr>
          </a:p>
        </p:txBody>
      </p:sp>
      <p:sp>
        <p:nvSpPr>
          <p:cNvPr id="256" name="Google Shape;256;g331cd004efa_0_373"/>
          <p:cNvSpPr txBox="1">
            <a:spLocks noGrp="1"/>
          </p:cNvSpPr>
          <p:nvPr>
            <p:ph type="title"/>
          </p:nvPr>
        </p:nvSpPr>
        <p:spPr>
          <a:xfrm>
            <a:off x="5382800" y="283950"/>
            <a:ext cx="6257700" cy="944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vi-VN" sz="2100">
                <a:solidFill>
                  <a:srgbClr val="3B5998"/>
                </a:solidFill>
              </a:rPr>
              <a:t>プロジェクトの不満足な指標を分析し、基準から10％以上の乖離があるものを特定する</a:t>
            </a:r>
            <a:endParaRPr sz="2100">
              <a:solidFill>
                <a:srgbClr val="3B5998"/>
              </a:solidFill>
            </a:endParaRPr>
          </a:p>
        </p:txBody>
      </p:sp>
      <p:sp>
        <p:nvSpPr>
          <p:cNvPr id="257" name="Google Shape;257;g331cd004efa_0_373"/>
          <p:cNvSpPr txBox="1">
            <a:spLocks noGrp="1"/>
          </p:cNvSpPr>
          <p:nvPr>
            <p:ph type="title"/>
          </p:nvPr>
        </p:nvSpPr>
        <p:spPr>
          <a:xfrm>
            <a:off x="529275" y="1228050"/>
            <a:ext cx="10515600" cy="16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998"/>
              </a:buClr>
              <a:buSzPts val="1600"/>
              <a:buAutoNum type="arabicPeriod"/>
            </a:pPr>
            <a:r>
              <a:rPr lang="vi-VN" sz="1600">
                <a:solidFill>
                  <a:srgbClr val="3B5998"/>
                </a:solidFill>
              </a:rPr>
              <a:t>CSSが基準を上回る (CSS: 90)</a:t>
            </a:r>
            <a:endParaRPr sz="1600">
              <a:solidFill>
                <a:srgbClr val="3B599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1600">
                <a:solidFill>
                  <a:srgbClr val="3B5998"/>
                </a:solidFill>
              </a:rPr>
              <a:t>原因：</a:t>
            </a:r>
            <a:endParaRPr sz="1600">
              <a:solidFill>
                <a:srgbClr val="3B599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 sz="1600">
                <a:solidFill>
                  <a:srgbClr val="3B5998"/>
                </a:solidFill>
              </a:rPr>
              <a:t>…</a:t>
            </a:r>
            <a:endParaRPr sz="1600"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320b588d4a_3_52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11</a:t>
            </a:fld>
            <a:endParaRPr/>
          </a:p>
        </p:txBody>
      </p:sp>
      <p:sp>
        <p:nvSpPr>
          <p:cNvPr id="263" name="Google Shape;263;g3320b588d4a_3_52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IV. 問題と解決策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20b588d4a_3_67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12</a:t>
            </a:fld>
            <a:endParaRPr/>
          </a:p>
        </p:txBody>
      </p:sp>
      <p:sp>
        <p:nvSpPr>
          <p:cNvPr id="270" name="Google Shape;270;g3320b588d4a_3_67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IV.</a:t>
            </a:r>
            <a:r>
              <a:rPr lang="vi-VN">
                <a:solidFill>
                  <a:srgbClr val="1750AF"/>
                </a:solidFill>
              </a:rPr>
              <a:t> </a:t>
            </a:r>
            <a:r>
              <a:rPr lang="vi-VN"/>
              <a:t>問題と解決策</a:t>
            </a:r>
            <a:endParaRPr>
              <a:solidFill>
                <a:srgbClr val="1750AF"/>
              </a:solidFill>
            </a:endParaRPr>
          </a:p>
        </p:txBody>
      </p:sp>
      <p:graphicFrame>
        <p:nvGraphicFramePr>
          <p:cNvPr id="271" name="Google Shape;271;g3320b588d4a_3_67"/>
          <p:cNvGraphicFramePr/>
          <p:nvPr/>
        </p:nvGraphicFramePr>
        <p:xfrm>
          <a:off x="423863" y="17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問題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解決策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 u="none" strike="noStrike" cap="none">
                          <a:solidFill>
                            <a:srgbClr val="FFFFFF"/>
                          </a:solidFill>
                        </a:rPr>
                        <a:t>PIC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締め切り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strike="noStrike" cap="none"/>
                        <a:t>1</a:t>
                      </a:r>
                      <a:endParaRPr sz="16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strike="noStrike" cap="none"/>
                        <a:t>2</a:t>
                      </a:r>
                      <a:endParaRPr sz="16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u="none" strike="noStrike" cap="none"/>
                        <a:t>3</a:t>
                      </a:r>
                      <a:endParaRPr sz="16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320b588d4a_3_61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13</a:t>
            </a:fld>
            <a:endParaRPr/>
          </a:p>
        </p:txBody>
      </p:sp>
      <p:sp>
        <p:nvSpPr>
          <p:cNvPr id="277" name="Google Shape;277;g3320b588d4a_3_61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V. レッスンと練習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20b588d4a_3_82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14</a:t>
            </a:fld>
            <a:endParaRPr/>
          </a:p>
        </p:txBody>
      </p:sp>
      <p:sp>
        <p:nvSpPr>
          <p:cNvPr id="284" name="Google Shape;284;g3320b588d4a_3_82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V. レッスンと練習</a:t>
            </a:r>
            <a:endParaRPr>
              <a:solidFill>
                <a:srgbClr val="3B5998"/>
              </a:solidFill>
            </a:endParaRPr>
          </a:p>
        </p:txBody>
      </p:sp>
      <p:graphicFrame>
        <p:nvGraphicFramePr>
          <p:cNvPr id="285" name="Google Shape;285;g3320b588d4a_3_82"/>
          <p:cNvGraphicFramePr/>
          <p:nvPr/>
        </p:nvGraphicFramePr>
        <p:xfrm>
          <a:off x="423863" y="17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{CD9E69E7-9B9D-4E72-B8BF-59B28ED32D71}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1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 u="none" strike="noStrike" cap="none">
                          <a:solidFill>
                            <a:srgbClr val="FFFFFF"/>
                          </a:solidFill>
                        </a:rPr>
                        <a:t>#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状況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練習／レッスン／提案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種類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600" b="1">
                          <a:solidFill>
                            <a:srgbClr val="FFFFFF"/>
                          </a:solidFill>
                        </a:rPr>
                        <a:t>カテゴリー</a:t>
                      </a:r>
                      <a:endParaRPr sz="16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strike="noStrike" cap="none"/>
                        <a:t>1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vi-VN" sz="1500" b="1">
                          <a:solidFill>
                            <a:schemeClr val="dk1"/>
                          </a:solidFill>
                        </a:rPr>
                        <a:t>練習／レッスン</a:t>
                      </a:r>
                      <a:endParaRPr sz="15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strike="noStrike" cap="none"/>
                        <a:t>2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strike="noStrike" cap="none"/>
                        <a:t>3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vi-VN" sz="1500" u="none" strike="noStrike" cap="none"/>
                        <a:t>4</a:t>
                      </a: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endParaRPr sz="15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22965915c_1_55"/>
          <p:cNvSpPr txBox="1">
            <a:spLocks noGrp="1"/>
          </p:cNvSpPr>
          <p:nvPr>
            <p:ph type="sldNum" idx="12"/>
          </p:nvPr>
        </p:nvSpPr>
        <p:spPr>
          <a:xfrm>
            <a:off x="581900" y="6282050"/>
            <a:ext cx="463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vi-VN"/>
              <a:t>15</a:t>
            </a:fld>
            <a:endParaRPr/>
          </a:p>
        </p:txBody>
      </p:sp>
      <p:sp>
        <p:nvSpPr>
          <p:cNvPr id="291" name="Google Shape;291;g3322965915c_1_55"/>
          <p:cNvSpPr txBox="1">
            <a:spLocks noGrp="1"/>
          </p:cNvSpPr>
          <p:nvPr>
            <p:ph type="ctrTitle"/>
          </p:nvPr>
        </p:nvSpPr>
        <p:spPr>
          <a:xfrm>
            <a:off x="498775" y="3125241"/>
            <a:ext cx="9144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vi-VN" b="1"/>
              <a:t>VI. Q&amp;A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320b588d4a_3_92"/>
          <p:cNvSpPr txBox="1">
            <a:spLocks noGrp="1"/>
          </p:cNvSpPr>
          <p:nvPr>
            <p:ph type="sldNum" idx="12"/>
          </p:nvPr>
        </p:nvSpPr>
        <p:spPr>
          <a:xfrm>
            <a:off x="11417400" y="6435400"/>
            <a:ext cx="68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16</a:t>
            </a:fld>
            <a:endParaRPr/>
          </a:p>
        </p:txBody>
      </p:sp>
      <p:sp>
        <p:nvSpPr>
          <p:cNvPr id="298" name="Google Shape;298;g3320b588d4a_3_92"/>
          <p:cNvSpPr txBox="1">
            <a:spLocks noGrp="1"/>
          </p:cNvSpPr>
          <p:nvPr>
            <p:ph type="title"/>
          </p:nvPr>
        </p:nvSpPr>
        <p:spPr>
          <a:xfrm>
            <a:off x="1586700" y="317650"/>
            <a:ext cx="105156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-VN">
                <a:solidFill>
                  <a:srgbClr val="3B5998"/>
                </a:solidFill>
              </a:rPr>
              <a:t>Q&amp;A</a:t>
            </a:r>
            <a:endParaRPr>
              <a:solidFill>
                <a:srgbClr val="3B599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"/>
          <p:cNvSpPr txBox="1">
            <a:spLocks noGrp="1"/>
          </p:cNvSpPr>
          <p:nvPr>
            <p:ph type="sldNum" idx="12"/>
          </p:nvPr>
        </p:nvSpPr>
        <p:spPr>
          <a:xfrm>
            <a:off x="9386350" y="64353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vi-VN"/>
              <a:t>17</a:t>
            </a:fld>
            <a:endParaRPr/>
          </a:p>
        </p:txBody>
      </p:sp>
      <p:sp>
        <p:nvSpPr>
          <p:cNvPr id="304" name="Google Shape;304;p17"/>
          <p:cNvSpPr txBox="1">
            <a:spLocks noGrp="1"/>
          </p:cNvSpPr>
          <p:nvPr>
            <p:ph type="subTitle" idx="1"/>
          </p:nvPr>
        </p:nvSpPr>
        <p:spPr>
          <a:xfrm>
            <a:off x="5230800" y="4307050"/>
            <a:ext cx="69612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vi-VN" sz="4700"/>
              <a:t>ありがとうございます！</a:t>
            </a:r>
            <a:endParaRPr sz="4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Triết Lý Sống Tam Quan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Thế giới quan • Nhân sinh quan • Giá trị quan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chung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Tam quan là gì?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Nền tảng tư duy sống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Thế giới quan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Cách nhìn nhận thế giới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Quan điểm về vũ trụ</a:t>
            </a:r>
          </a:p>
          <a:p>
            <a:r>
              <a:t>Hiểu biết về tự nhiên</a:t>
            </a:r>
          </a:p>
          <a:p>
            <a:r>
              <a:t>Nhận thức xã hội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Nhân sinh quan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Quan điểm về cuộc sống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Mục đích sống</a:t>
            </a:r>
          </a:p>
          <a:p>
            <a:r>
              <a:t>Ý nghĩa cuộc đời</a:t>
            </a:r>
          </a:p>
          <a:p>
            <a:r>
              <a:t>Cách ứng xử với hoàn cảnh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Giá trị quan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Tiêu chuẩn đánh giá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Cái gì là đúng - sai</a:t>
            </a:r>
          </a:p>
          <a:p>
            <a:r>
              <a:t>Cái gì là tốt - xấu</a:t>
            </a:r>
          </a:p>
          <a:p>
            <a:r>
              <a:t>Cái gì đáng quý nhất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Mối liên hệ giữa Tam quan
• Thế giới quan → Nhân sinh quan → Giá trị quan
• Tương tác và ảnh hưởng lẫn nhau
• Định hình hành vi và lựa chọn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Tam quan là kim chỉ nam cho cuộc sống ý nghĩa và có giá trị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able of content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rang chuyể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nfographic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rang The en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Macintosh PowerPoint</Application>
  <PresentationFormat>Widescreen</PresentationFormat>
  <Paragraphs>154</Paragraphs>
  <Slides>24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Cover</vt:lpstr>
      <vt:lpstr>Table of contents</vt:lpstr>
      <vt:lpstr>Trang chuyển</vt:lpstr>
      <vt:lpstr>Infographic</vt:lpstr>
      <vt:lpstr>Trang The end</vt:lpstr>
      <vt:lpstr>Post Mortem Report</vt:lpstr>
      <vt:lpstr>PowerPoint Presentation</vt:lpstr>
      <vt:lpstr>I. プロジェクトの概要</vt:lpstr>
      <vt:lpstr>I. プロジェクトの概要</vt:lpstr>
      <vt:lpstr>II. 実際のマイルストーン</vt:lpstr>
      <vt:lpstr>II. 実際のマイルストーン</vt:lpstr>
      <vt:lpstr>III. メトリック</vt:lpstr>
      <vt:lpstr>III. メトリック</vt:lpstr>
      <vt:lpstr>III. メトリック</vt:lpstr>
      <vt:lpstr>III. メトリック</vt:lpstr>
      <vt:lpstr>IV. 問題と解決策</vt:lpstr>
      <vt:lpstr>IV. 問題と解決策</vt:lpstr>
      <vt:lpstr>V. レッスンと練習</vt:lpstr>
      <vt:lpstr>V. レッスンと練習</vt:lpstr>
      <vt:lpstr>VI. Q&amp;A</vt:lpstr>
      <vt:lpstr>Q&amp;A</vt:lpstr>
      <vt:lpstr>PowerPoint Presentation</vt:lpstr>
      <vt:lpstr>Triết Lý Sống Tam Quan</vt:lpstr>
      <vt:lpstr>Giới thiệu chung</vt:lpstr>
      <vt:lpstr>Thế giới quan</vt:lpstr>
      <vt:lpstr>Nhân sinh quan</vt:lpstr>
      <vt:lpstr>Giá trị quan</vt:lpstr>
      <vt:lpstr>Mối liên hệ giữa Tam quan
• Thế giới quan → Nhân sinh quan → Giá trị quan
• Tương tác và ảnh hưởng lẫn nhau
• Định hình hành vi và lựa chọn</vt:lpstr>
      <vt:lpstr>Kết luận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Eiki Tomobe</cp:lastModifiedBy>
  <cp:revision>1</cp:revision>
  <dcterms:created xsi:type="dcterms:W3CDTF">2023-01-10T03:58:08Z</dcterms:created>
  <dcterms:modified xsi:type="dcterms:W3CDTF">2026-02-21T01:26:04Z</dcterms:modified>
</cp:coreProperties>
</file>